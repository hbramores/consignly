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xmlns=""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embeddedFontLst>
    <p:embeddedFont>
      <p:font typeface="Inter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xmlns="" Id="rId14" Type="http://schemas.openxmlformats.org/officeDocument/2006/relationships/font" Target="fonts/rId1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14500" y="1633538"/>
            <a:ext cx="5715000" cy="1881187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1714500" y="1633538"/>
            <a:ext cx="571500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CONSIGNLY</a:t>
            </a:r>
            <a:endParaRPr lang="en-US" sz="3420" dirty="0"/>
          </a:p>
        </p:txBody>
      </p:sp>
      <p:sp>
        <p:nvSpPr>
          <p:cNvPr id="4" name="Text 2"/>
          <p:cNvSpPr/>
          <p:nvPr/>
        </p:nvSpPr>
        <p:spPr>
          <a:xfrm>
            <a:off x="1714500" y="2295525"/>
            <a:ext cx="57150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D88BA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Craft freely, track easily</a:t>
            </a:r>
            <a:endParaRPr lang="en-US" sz="1283" dirty="0"/>
          </a:p>
        </p:txBody>
      </p:sp>
      <p:sp>
        <p:nvSpPr>
          <p:cNvPr id="5" name="Shape 3"/>
          <p:cNvSpPr/>
          <p:nvPr/>
        </p:nvSpPr>
        <p:spPr>
          <a:xfrm>
            <a:off x="3633788" y="2647950"/>
            <a:ext cx="1876425" cy="38100"/>
          </a:xfrm>
          <a:prstGeom prst="rect">
            <a:avLst/>
          </a:prstGeom>
          <a:solidFill>
            <a:srgbClr val="D88BA3"/>
          </a:solidFill>
          <a:ln/>
        </p:spPr>
      </p:sp>
      <p:sp>
        <p:nvSpPr>
          <p:cNvPr id="6" name="Text 4"/>
          <p:cNvSpPr/>
          <p:nvPr/>
        </p:nvSpPr>
        <p:spPr>
          <a:xfrm>
            <a:off x="1714500" y="2800350"/>
            <a:ext cx="5715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95"/>
              </a:lnSpc>
              <a:buNone/>
            </a:pPr>
            <a:r>
              <a:rPr lang="en-US" sz="1283" b="1" spc="-13" kern="0" dirty="0">
                <a:solidFill>
                  <a:srgbClr val="5F5F5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Hana B. Ramores</a:t>
            </a:r>
            <a:endParaRPr lang="en-US" sz="1283" dirty="0"/>
          </a:p>
          <a:p>
            <a:pPr algn="ctr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5F5F5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38</a:t>
            </a:r>
            <a:endParaRPr lang="en-US" sz="1283" dirty="0"/>
          </a:p>
          <a:p>
            <a:pPr algn="ctr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5F5F5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Consignment  &amp; Inventory Management System</a:t>
            </a:r>
            <a:endParaRPr lang="en-US" sz="128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5263" y="366713"/>
            <a:ext cx="636270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104"/>
              </a:lnSpc>
              <a:buNone/>
            </a:pPr>
            <a:r>
              <a:rPr lang="en-US" sz="3420" spc="-6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 Ellaine: A Day in the Life</a:t>
            </a:r>
            <a:endParaRPr lang="en-US" sz="3420" dirty="0"/>
          </a:p>
        </p:txBody>
      </p:sp>
      <p:sp>
        <p:nvSpPr>
          <p:cNvPr id="3" name="Shape 1"/>
          <p:cNvSpPr/>
          <p:nvPr/>
        </p:nvSpPr>
        <p:spPr>
          <a:xfrm>
            <a:off x="4071938" y="1185863"/>
            <a:ext cx="4710113" cy="1057275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4071938" y="1185863"/>
            <a:ext cx="4710113" cy="1057275"/>
          </a:xfrm>
          <a:prstGeom prst="roundRect">
            <a:avLst>
              <a:gd name="adj" fmla="val 40649"/>
            </a:avLst>
          </a:prstGeom>
          <a:solidFill>
            <a:srgbClr val="FFFFFF"/>
          </a:solidFill>
          <a:ln w="2262">
            <a:solidFill>
              <a:srgbClr val="5F5F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05350" y="1381125"/>
            <a:ext cx="14049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Time-Consuming</a:t>
            </a:r>
            <a:endParaRPr lang="en-US" sz="1283" dirty="0"/>
          </a:p>
        </p:txBody>
      </p:sp>
      <p:sp>
        <p:nvSpPr>
          <p:cNvPr id="6" name="Text 4"/>
          <p:cNvSpPr/>
          <p:nvPr/>
        </p:nvSpPr>
        <p:spPr>
          <a:xfrm>
            <a:off x="4705350" y="1671638"/>
            <a:ext cx="37242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5F5F5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Hours spent on notebooks, phone notes, and manual calculations</a:t>
            </a:r>
            <a:endParaRPr lang="en-US" sz="1069" dirty="0"/>
          </a:p>
        </p:txBody>
      </p:sp>
      <p:sp>
        <p:nvSpPr>
          <p:cNvPr id="7" name="Shape 5"/>
          <p:cNvSpPr/>
          <p:nvPr/>
        </p:nvSpPr>
        <p:spPr>
          <a:xfrm>
            <a:off x="4248150" y="1390650"/>
            <a:ext cx="228600" cy="209550"/>
          </a:xfrm>
          <a:prstGeom prst="ellipse">
            <a:avLst/>
          </a:prstGeom>
          <a:solidFill>
            <a:srgbClr val="D88BA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48137" y="1281113"/>
            <a:ext cx="428625" cy="4286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071938" y="2371725"/>
            <a:ext cx="4710113" cy="1057275"/>
          </a:xfrm>
          <a:prstGeom prst="rect">
            <a:avLst/>
          </a:prstGeom>
          <a:noFill/>
          <a:ln/>
        </p:spPr>
      </p:sp>
      <p:sp>
        <p:nvSpPr>
          <p:cNvPr id="10" name="Shape 7"/>
          <p:cNvSpPr/>
          <p:nvPr/>
        </p:nvSpPr>
        <p:spPr>
          <a:xfrm>
            <a:off x="4071938" y="2371725"/>
            <a:ext cx="4710113" cy="1057275"/>
          </a:xfrm>
          <a:prstGeom prst="roundRect">
            <a:avLst>
              <a:gd name="adj" fmla="val 40649"/>
            </a:avLst>
          </a:prstGeom>
          <a:solidFill>
            <a:srgbClr val="FFFFFF"/>
          </a:solidFill>
          <a:ln w="2262">
            <a:solidFill>
              <a:srgbClr val="5F5F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14875" y="2566988"/>
            <a:ext cx="1309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Error-Prone</a:t>
            </a:r>
            <a:endParaRPr lang="en-US" sz="1283" dirty="0"/>
          </a:p>
        </p:txBody>
      </p:sp>
      <p:sp>
        <p:nvSpPr>
          <p:cNvPr id="12" name="Text 9"/>
          <p:cNvSpPr/>
          <p:nvPr/>
        </p:nvSpPr>
        <p:spPr>
          <a:xfrm>
            <a:off x="4714875" y="2857500"/>
            <a:ext cx="37147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5F5F5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Forgetting which items went to which store, inventory mismatches.</a:t>
            </a:r>
            <a:endParaRPr lang="en-US" sz="1069" dirty="0"/>
          </a:p>
        </p:txBody>
      </p:sp>
      <p:sp>
        <p:nvSpPr>
          <p:cNvPr id="13" name="Shape 10"/>
          <p:cNvSpPr/>
          <p:nvPr/>
        </p:nvSpPr>
        <p:spPr>
          <a:xfrm>
            <a:off x="4248150" y="2576513"/>
            <a:ext cx="228600" cy="209550"/>
          </a:xfrm>
          <a:prstGeom prst="ellipse">
            <a:avLst/>
          </a:prstGeom>
          <a:solidFill>
            <a:srgbClr val="D88BA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148137" y="2466975"/>
            <a:ext cx="428625" cy="428625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071938" y="3557588"/>
            <a:ext cx="4710113" cy="1057275"/>
          </a:xfrm>
          <a:prstGeom prst="rect">
            <a:avLst/>
          </a:prstGeom>
          <a:noFill/>
          <a:ln/>
        </p:spPr>
      </p:sp>
      <p:sp>
        <p:nvSpPr>
          <p:cNvPr id="16" name="Shape 12"/>
          <p:cNvSpPr/>
          <p:nvPr/>
        </p:nvSpPr>
        <p:spPr>
          <a:xfrm>
            <a:off x="4071938" y="3557588"/>
            <a:ext cx="4710113" cy="1057275"/>
          </a:xfrm>
          <a:prstGeom prst="roundRect">
            <a:avLst>
              <a:gd name="adj" fmla="val 40649"/>
            </a:avLst>
          </a:prstGeom>
          <a:solidFill>
            <a:srgbClr val="FFFFFF"/>
          </a:solidFill>
          <a:ln w="2262">
            <a:solidFill>
              <a:srgbClr val="5F5F5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714875" y="3752850"/>
            <a:ext cx="1309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Issues</a:t>
            </a:r>
            <a:endParaRPr lang="en-US" sz="1283" dirty="0"/>
          </a:p>
        </p:txBody>
      </p:sp>
      <p:sp>
        <p:nvSpPr>
          <p:cNvPr id="18" name="Text 14"/>
          <p:cNvSpPr/>
          <p:nvPr/>
        </p:nvSpPr>
        <p:spPr>
          <a:xfrm>
            <a:off x="4714875" y="4043363"/>
            <a:ext cx="37147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5F5F5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Commission errors affecting relationship with store owners</a:t>
            </a:r>
            <a:endParaRPr lang="en-US" sz="1069" dirty="0"/>
          </a:p>
        </p:txBody>
      </p:sp>
      <p:sp>
        <p:nvSpPr>
          <p:cNvPr id="19" name="Shape 15"/>
          <p:cNvSpPr/>
          <p:nvPr/>
        </p:nvSpPr>
        <p:spPr>
          <a:xfrm>
            <a:off x="4248150" y="3762375"/>
            <a:ext cx="228600" cy="209550"/>
          </a:xfrm>
          <a:prstGeom prst="ellipse">
            <a:avLst/>
          </a:prstGeom>
          <a:solidFill>
            <a:srgbClr val="D88BA3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148137" y="3652838"/>
            <a:ext cx="428625" cy="428625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495300" y="1185863"/>
            <a:ext cx="3248025" cy="1700213"/>
          </a:xfrm>
          <a:prstGeom prst="roundRect">
            <a:avLst/>
          </a:prstGeom>
          <a:solidFill>
            <a:srgbClr val="FDE2E9"/>
          </a:solidFill>
          <a:ln/>
        </p:spPr>
      </p:sp>
      <p:sp>
        <p:nvSpPr>
          <p:cNvPr id="22" name="Text 17"/>
          <p:cNvSpPr/>
          <p:nvPr/>
        </p:nvSpPr>
        <p:spPr>
          <a:xfrm>
            <a:off x="1223963" y="1381125"/>
            <a:ext cx="15811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71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Ellain Perez, 25</a:t>
            </a:r>
            <a:endParaRPr lang="en-US" sz="1710" dirty="0"/>
          </a:p>
        </p:txBody>
      </p:sp>
      <p:sp>
        <p:nvSpPr>
          <p:cNvPr id="23" name="Text 18"/>
          <p:cNvSpPr/>
          <p:nvPr/>
        </p:nvSpPr>
        <p:spPr>
          <a:xfrm>
            <a:off x="1223963" y="1643063"/>
            <a:ext cx="1376363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8C7A8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Home-based Artisan</a:t>
            </a:r>
            <a:endParaRPr lang="en-US" sz="1069" dirty="0"/>
          </a:p>
        </p:txBody>
      </p:sp>
      <p:sp>
        <p:nvSpPr>
          <p:cNvPr id="24" name="Text 19"/>
          <p:cNvSpPr/>
          <p:nvPr/>
        </p:nvSpPr>
        <p:spPr>
          <a:xfrm>
            <a:off x="666750" y="2062163"/>
            <a:ext cx="239077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53"/>
              </a:lnSpc>
              <a:buNone/>
            </a:pPr>
            <a:r>
              <a:rPr lang="en-US" sz="1069" b="1" spc="-11" kern="0" dirty="0">
                <a:solidFill>
                  <a:srgbClr val="D88BA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Specialty:</a:t>
            </a:r>
            <a:pPr algn="ctr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8C7A8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ctr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3A3A3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Handmade crochet items</a:t>
            </a:r>
            <a:endParaRPr lang="en-US" sz="1069" dirty="0"/>
          </a:p>
        </p:txBody>
      </p:sp>
      <p:sp>
        <p:nvSpPr>
          <p:cNvPr id="25" name="Text 20"/>
          <p:cNvSpPr/>
          <p:nvPr/>
        </p:nvSpPr>
        <p:spPr>
          <a:xfrm>
            <a:off x="676275" y="2271713"/>
            <a:ext cx="2328863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53"/>
              </a:lnSpc>
              <a:buNone/>
            </a:pPr>
            <a:r>
              <a:rPr lang="en-US" sz="1069" b="1" spc="-11" kern="0" dirty="0">
                <a:solidFill>
                  <a:srgbClr val="D88BA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Income:</a:t>
            </a:r>
            <a:pPr algn="ctr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8C7A8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ctr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3A3A3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₱18,000 - ₱30,000/month</a:t>
            </a:r>
            <a:endParaRPr lang="en-US" sz="1069" dirty="0"/>
          </a:p>
        </p:txBody>
      </p:sp>
      <p:sp>
        <p:nvSpPr>
          <p:cNvPr id="26" name="Text 21"/>
          <p:cNvSpPr/>
          <p:nvPr/>
        </p:nvSpPr>
        <p:spPr>
          <a:xfrm>
            <a:off x="666750" y="2476500"/>
            <a:ext cx="2443163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53"/>
              </a:lnSpc>
              <a:buNone/>
            </a:pPr>
            <a:r>
              <a:rPr lang="en-US" sz="1069" b="1" spc="-11" kern="0" dirty="0">
                <a:solidFill>
                  <a:srgbClr val="D88BA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Stores:</a:t>
            </a:r>
            <a:pPr algn="ctr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8C7A8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ctr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3A3A3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2-3 local consignment shops</a:t>
            </a:r>
            <a:endParaRPr lang="en-US" sz="1069" dirty="0"/>
          </a:p>
        </p:txBody>
      </p:sp>
      <p:sp>
        <p:nvSpPr>
          <p:cNvPr id="27" name="Shape 22"/>
          <p:cNvSpPr/>
          <p:nvPr/>
        </p:nvSpPr>
        <p:spPr>
          <a:xfrm>
            <a:off x="666750" y="1352550"/>
            <a:ext cx="481012" cy="485775"/>
          </a:xfrm>
          <a:prstGeom prst="ellipse">
            <a:avLst/>
          </a:prstGeom>
          <a:solidFill>
            <a:srgbClr val="D88BA3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92944" y="1381125"/>
            <a:ext cx="428625" cy="428625"/>
          </a:xfrm>
          <a:prstGeom prst="rect">
            <a:avLst/>
          </a:prstGeom>
        </p:spPr>
      </p:pic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95300" y="3067050"/>
            <a:ext cx="3257550" cy="15573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304800"/>
            <a:ext cx="4672013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spc="-6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Broken System</a:t>
            </a:r>
            <a:endParaRPr lang="en-US" sz="3420" dirty="0"/>
          </a:p>
        </p:txBody>
      </p:sp>
      <p:sp>
        <p:nvSpPr>
          <p:cNvPr id="3" name="Text 1"/>
          <p:cNvSpPr/>
          <p:nvPr/>
        </p:nvSpPr>
        <p:spPr>
          <a:xfrm>
            <a:off x="342900" y="852488"/>
            <a:ext cx="372427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5F5F5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manual tracking fails artisans</a:t>
            </a:r>
            <a:endParaRPr lang="en-US" sz="1069" dirty="0"/>
          </a:p>
        </p:txBody>
      </p:sp>
      <p:sp>
        <p:nvSpPr>
          <p:cNvPr id="4" name="Shape 2"/>
          <p:cNvSpPr/>
          <p:nvPr/>
        </p:nvSpPr>
        <p:spPr>
          <a:xfrm>
            <a:off x="561975" y="1247775"/>
            <a:ext cx="8020050" cy="876300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561975" y="1247775"/>
            <a:ext cx="8020050" cy="876300"/>
          </a:xfrm>
          <a:prstGeom prst="roundRect">
            <a:avLst>
              <a:gd name="adj" fmla="val 49043"/>
            </a:avLst>
          </a:prstGeom>
          <a:solidFill>
            <a:srgbClr val="FDE2E9"/>
          </a:solidFill>
          <a:ln w="2262">
            <a:solidFill>
              <a:srgbClr val="5F5F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95388" y="1443038"/>
            <a:ext cx="14049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Visibility Gaps</a:t>
            </a:r>
            <a:endParaRPr lang="en-US" sz="1283" dirty="0"/>
          </a:p>
        </p:txBody>
      </p:sp>
      <p:sp>
        <p:nvSpPr>
          <p:cNvPr id="7" name="Text 5"/>
          <p:cNvSpPr/>
          <p:nvPr/>
        </p:nvSpPr>
        <p:spPr>
          <a:xfrm>
            <a:off x="1195388" y="1733550"/>
            <a:ext cx="7048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5F5F5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Struggling to remember exact items sent to which store, leading to missing products and inventory errors</a:t>
            </a:r>
            <a:endParaRPr lang="en-US" sz="1069" dirty="0"/>
          </a:p>
        </p:txBody>
      </p:sp>
      <p:sp>
        <p:nvSpPr>
          <p:cNvPr id="8" name="Shape 6"/>
          <p:cNvSpPr/>
          <p:nvPr/>
        </p:nvSpPr>
        <p:spPr>
          <a:xfrm>
            <a:off x="738188" y="1452563"/>
            <a:ext cx="228600" cy="209550"/>
          </a:xfrm>
          <a:prstGeom prst="ellipse">
            <a:avLst/>
          </a:prstGeom>
          <a:solidFill>
            <a:srgbClr val="D88BA3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8175" y="1343025"/>
            <a:ext cx="428625" cy="42862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61975" y="2390775"/>
            <a:ext cx="8020050" cy="928688"/>
          </a:xfrm>
          <a:prstGeom prst="rect">
            <a:avLst/>
          </a:prstGeom>
          <a:noFill/>
          <a:ln/>
        </p:spPr>
      </p:sp>
      <p:sp>
        <p:nvSpPr>
          <p:cNvPr id="11" name="Shape 8"/>
          <p:cNvSpPr/>
          <p:nvPr/>
        </p:nvSpPr>
        <p:spPr>
          <a:xfrm>
            <a:off x="561975" y="2390775"/>
            <a:ext cx="8020050" cy="928688"/>
          </a:xfrm>
          <a:prstGeom prst="roundRect">
            <a:avLst>
              <a:gd name="adj" fmla="val 46277"/>
            </a:avLst>
          </a:prstGeom>
          <a:solidFill>
            <a:srgbClr val="FDE2E9"/>
          </a:solidFill>
          <a:ln w="2262">
            <a:solidFill>
              <a:srgbClr val="5F5F5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95388" y="2586038"/>
            <a:ext cx="14049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Friction</a:t>
            </a:r>
            <a:endParaRPr lang="en-US" sz="1283" dirty="0"/>
          </a:p>
        </p:txBody>
      </p:sp>
      <p:sp>
        <p:nvSpPr>
          <p:cNvPr id="13" name="Text 10"/>
          <p:cNvSpPr/>
          <p:nvPr/>
        </p:nvSpPr>
        <p:spPr>
          <a:xfrm>
            <a:off x="1195388" y="2876550"/>
            <a:ext cx="704850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5F5F5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Time-consuming commission calculations and repetitive mistakes affect relationships with store owners</a:t>
            </a:r>
            <a:endParaRPr lang="en-US" sz="1069" dirty="0"/>
          </a:p>
        </p:txBody>
      </p:sp>
      <p:sp>
        <p:nvSpPr>
          <p:cNvPr id="14" name="Shape 11"/>
          <p:cNvSpPr/>
          <p:nvPr/>
        </p:nvSpPr>
        <p:spPr>
          <a:xfrm>
            <a:off x="738188" y="2595563"/>
            <a:ext cx="228600" cy="209550"/>
          </a:xfrm>
          <a:prstGeom prst="ellipse">
            <a:avLst/>
          </a:prstGeom>
          <a:solidFill>
            <a:srgbClr val="D88BA3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8175" y="2486025"/>
            <a:ext cx="428625" cy="428625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61975" y="3586163"/>
            <a:ext cx="8020050" cy="933450"/>
          </a:xfrm>
          <a:prstGeom prst="rect">
            <a:avLst/>
          </a:prstGeom>
          <a:noFill/>
          <a:ln/>
        </p:spPr>
      </p:sp>
      <p:sp>
        <p:nvSpPr>
          <p:cNvPr id="17" name="Shape 13"/>
          <p:cNvSpPr/>
          <p:nvPr/>
        </p:nvSpPr>
        <p:spPr>
          <a:xfrm>
            <a:off x="561975" y="3586163"/>
            <a:ext cx="8020050" cy="933450"/>
          </a:xfrm>
          <a:prstGeom prst="roundRect">
            <a:avLst>
              <a:gd name="adj" fmla="val 46041"/>
            </a:avLst>
          </a:prstGeom>
          <a:solidFill>
            <a:srgbClr val="FDE2E9"/>
          </a:solidFill>
          <a:ln w="2262">
            <a:solidFill>
              <a:srgbClr val="5F5F5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195388" y="3781425"/>
            <a:ext cx="14049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Dependency</a:t>
            </a:r>
            <a:endParaRPr lang="en-US" sz="1283" dirty="0"/>
          </a:p>
        </p:txBody>
      </p:sp>
      <p:sp>
        <p:nvSpPr>
          <p:cNvPr id="19" name="Text 15"/>
          <p:cNvSpPr/>
          <p:nvPr/>
        </p:nvSpPr>
        <p:spPr>
          <a:xfrm>
            <a:off x="1195388" y="4071938"/>
            <a:ext cx="704850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5F5F5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real-time updates until stores report sales, resulting in limited decision-making capability</a:t>
            </a:r>
            <a:endParaRPr lang="en-US" sz="1069" dirty="0"/>
          </a:p>
        </p:txBody>
      </p:sp>
      <p:sp>
        <p:nvSpPr>
          <p:cNvPr id="20" name="Shape 16"/>
          <p:cNvSpPr/>
          <p:nvPr/>
        </p:nvSpPr>
        <p:spPr>
          <a:xfrm>
            <a:off x="738188" y="3790950"/>
            <a:ext cx="228600" cy="209550"/>
          </a:xfrm>
          <a:prstGeom prst="ellipse">
            <a:avLst/>
          </a:prstGeom>
          <a:solidFill>
            <a:srgbClr val="D88BA3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8175" y="3681413"/>
            <a:ext cx="428625" cy="4286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304800"/>
            <a:ext cx="4672013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spc="-6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Matters</a:t>
            </a:r>
            <a:endParaRPr lang="en-US" sz="3420" dirty="0"/>
          </a:p>
        </p:txBody>
      </p:sp>
      <p:sp>
        <p:nvSpPr>
          <p:cNvPr id="3" name="Text 1"/>
          <p:cNvSpPr/>
          <p:nvPr/>
        </p:nvSpPr>
        <p:spPr>
          <a:xfrm>
            <a:off x="342900" y="852488"/>
            <a:ext cx="372427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5F5F5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real cost to micro-entrepreneurs</a:t>
            </a:r>
            <a:endParaRPr lang="en-US" sz="1069" dirty="0"/>
          </a:p>
        </p:txBody>
      </p:sp>
      <p:sp>
        <p:nvSpPr>
          <p:cNvPr id="4" name="Shape 2"/>
          <p:cNvSpPr/>
          <p:nvPr/>
        </p:nvSpPr>
        <p:spPr>
          <a:xfrm>
            <a:off x="409575" y="1604963"/>
            <a:ext cx="3990975" cy="1057275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409575" y="1604963"/>
            <a:ext cx="3990975" cy="1057275"/>
          </a:xfrm>
          <a:prstGeom prst="roundRect">
            <a:avLst>
              <a:gd name="adj" fmla="val 40649"/>
            </a:avLst>
          </a:prstGeom>
          <a:solidFill>
            <a:srgbClr val="FFFFFF"/>
          </a:solidFill>
          <a:ln w="2262">
            <a:solidFill>
              <a:srgbClr val="5F5F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988" y="1800225"/>
            <a:ext cx="2171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Lost Production Time</a:t>
            </a:r>
            <a:endParaRPr lang="en-US" sz="1283" dirty="0"/>
          </a:p>
        </p:txBody>
      </p:sp>
      <p:sp>
        <p:nvSpPr>
          <p:cNvPr id="7" name="Text 5"/>
          <p:cNvSpPr/>
          <p:nvPr/>
        </p:nvSpPr>
        <p:spPr>
          <a:xfrm>
            <a:off x="1042988" y="2090738"/>
            <a:ext cx="305752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5F5F5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Hours spent on bookkeeping means less time creating products and serving customers</a:t>
            </a:r>
            <a:endParaRPr lang="en-US" sz="1069" dirty="0"/>
          </a:p>
        </p:txBody>
      </p:sp>
      <p:sp>
        <p:nvSpPr>
          <p:cNvPr id="8" name="Shape 6"/>
          <p:cNvSpPr/>
          <p:nvPr/>
        </p:nvSpPr>
        <p:spPr>
          <a:xfrm>
            <a:off x="585788" y="1809750"/>
            <a:ext cx="228600" cy="209550"/>
          </a:xfrm>
          <a:prstGeom prst="ellipse">
            <a:avLst/>
          </a:prstGeom>
          <a:solidFill>
            <a:srgbClr val="D88BA3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5775" y="1700213"/>
            <a:ext cx="428625" cy="42862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738688" y="1604963"/>
            <a:ext cx="3990975" cy="1057275"/>
          </a:xfrm>
          <a:prstGeom prst="rect">
            <a:avLst/>
          </a:prstGeom>
          <a:noFill/>
          <a:ln/>
        </p:spPr>
      </p:sp>
      <p:sp>
        <p:nvSpPr>
          <p:cNvPr id="11" name="Shape 8"/>
          <p:cNvSpPr/>
          <p:nvPr/>
        </p:nvSpPr>
        <p:spPr>
          <a:xfrm>
            <a:off x="4738688" y="1604963"/>
            <a:ext cx="3990975" cy="1057275"/>
          </a:xfrm>
          <a:prstGeom prst="roundRect">
            <a:avLst>
              <a:gd name="adj" fmla="val 40649"/>
            </a:avLst>
          </a:prstGeom>
          <a:solidFill>
            <a:srgbClr val="FFFFFF"/>
          </a:solidFill>
          <a:ln w="2262">
            <a:solidFill>
              <a:srgbClr val="5F5F5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72100" y="1800225"/>
            <a:ext cx="2171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Damaged Relationships</a:t>
            </a:r>
            <a:endParaRPr lang="en-US" sz="1283" dirty="0"/>
          </a:p>
        </p:txBody>
      </p:sp>
      <p:sp>
        <p:nvSpPr>
          <p:cNvPr id="13" name="Text 10"/>
          <p:cNvSpPr/>
          <p:nvPr/>
        </p:nvSpPr>
        <p:spPr>
          <a:xfrm>
            <a:off x="5372100" y="2090738"/>
            <a:ext cx="305752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5F5F5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Commission disputes and unclear records strain partnerships with store owners</a:t>
            </a:r>
            <a:endParaRPr lang="en-US" sz="1069" dirty="0"/>
          </a:p>
        </p:txBody>
      </p:sp>
      <p:sp>
        <p:nvSpPr>
          <p:cNvPr id="14" name="Shape 11"/>
          <p:cNvSpPr/>
          <p:nvPr/>
        </p:nvSpPr>
        <p:spPr>
          <a:xfrm>
            <a:off x="4914900" y="1809750"/>
            <a:ext cx="228600" cy="209550"/>
          </a:xfrm>
          <a:prstGeom prst="ellipse">
            <a:avLst/>
          </a:prstGeom>
          <a:solidFill>
            <a:srgbClr val="D88BA3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14888" y="1700213"/>
            <a:ext cx="428625" cy="428625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738688" y="2947988"/>
            <a:ext cx="3990975" cy="1252538"/>
          </a:xfrm>
          <a:prstGeom prst="rect">
            <a:avLst/>
          </a:prstGeom>
          <a:noFill/>
          <a:ln/>
        </p:spPr>
      </p:sp>
      <p:sp>
        <p:nvSpPr>
          <p:cNvPr id="17" name="Shape 13"/>
          <p:cNvSpPr/>
          <p:nvPr/>
        </p:nvSpPr>
        <p:spPr>
          <a:xfrm>
            <a:off x="4738688" y="2947988"/>
            <a:ext cx="3990975" cy="1252538"/>
          </a:xfrm>
          <a:prstGeom prst="roundRect">
            <a:avLst>
              <a:gd name="adj" fmla="val 34312"/>
            </a:avLst>
          </a:prstGeom>
          <a:solidFill>
            <a:srgbClr val="FFFFFF"/>
          </a:solidFill>
          <a:ln w="2262">
            <a:solidFill>
              <a:srgbClr val="5F5F5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372100" y="3143250"/>
            <a:ext cx="2171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Stunted Growth</a:t>
            </a:r>
            <a:endParaRPr lang="en-US" sz="1283" dirty="0"/>
          </a:p>
        </p:txBody>
      </p:sp>
      <p:sp>
        <p:nvSpPr>
          <p:cNvPr id="19" name="Text 15"/>
          <p:cNvSpPr/>
          <p:nvPr/>
        </p:nvSpPr>
        <p:spPr>
          <a:xfrm>
            <a:off x="5372100" y="3433763"/>
            <a:ext cx="305752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5F5F5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data-driven insights, artisans can't make informed decisions about expansion</a:t>
            </a:r>
            <a:endParaRPr lang="en-US" sz="1069" dirty="0"/>
          </a:p>
        </p:txBody>
      </p:sp>
      <p:sp>
        <p:nvSpPr>
          <p:cNvPr id="20" name="Shape 16"/>
          <p:cNvSpPr/>
          <p:nvPr/>
        </p:nvSpPr>
        <p:spPr>
          <a:xfrm>
            <a:off x="4914900" y="3152775"/>
            <a:ext cx="228600" cy="209550"/>
          </a:xfrm>
          <a:prstGeom prst="ellipse">
            <a:avLst/>
          </a:prstGeom>
          <a:solidFill>
            <a:srgbClr val="D88BA3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814888" y="3043238"/>
            <a:ext cx="428625" cy="428625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409575" y="2933700"/>
            <a:ext cx="3990975" cy="1266825"/>
          </a:xfrm>
          <a:prstGeom prst="rect">
            <a:avLst/>
          </a:prstGeom>
          <a:noFill/>
          <a:ln/>
        </p:spPr>
      </p:sp>
      <p:sp>
        <p:nvSpPr>
          <p:cNvPr id="23" name="Shape 18"/>
          <p:cNvSpPr/>
          <p:nvPr/>
        </p:nvSpPr>
        <p:spPr>
          <a:xfrm>
            <a:off x="409575" y="2933700"/>
            <a:ext cx="3990975" cy="1266825"/>
          </a:xfrm>
          <a:prstGeom prst="roundRect">
            <a:avLst>
              <a:gd name="adj" fmla="val 33925"/>
            </a:avLst>
          </a:prstGeom>
          <a:solidFill>
            <a:srgbClr val="FFFFFF"/>
          </a:solidFill>
          <a:ln w="2262">
            <a:solidFill>
              <a:srgbClr val="5F5F5F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1042988" y="3128963"/>
            <a:ext cx="2171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Loss</a:t>
            </a:r>
            <a:endParaRPr lang="en-US" sz="1283" dirty="0"/>
          </a:p>
        </p:txBody>
      </p:sp>
      <p:sp>
        <p:nvSpPr>
          <p:cNvPr id="25" name="Text 20"/>
          <p:cNvSpPr/>
          <p:nvPr/>
        </p:nvSpPr>
        <p:spPr>
          <a:xfrm>
            <a:off x="1042988" y="3419475"/>
            <a:ext cx="3057525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5F5F5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 errors and missed sales opportunities directly impact monthly income of ₱18,000-₱30,000</a:t>
            </a:r>
            <a:endParaRPr lang="en-US" sz="1069" dirty="0"/>
          </a:p>
        </p:txBody>
      </p:sp>
      <p:sp>
        <p:nvSpPr>
          <p:cNvPr id="26" name="Shape 21"/>
          <p:cNvSpPr/>
          <p:nvPr/>
        </p:nvSpPr>
        <p:spPr>
          <a:xfrm>
            <a:off x="585788" y="3138488"/>
            <a:ext cx="228600" cy="209550"/>
          </a:xfrm>
          <a:prstGeom prst="ellipse">
            <a:avLst/>
          </a:prstGeom>
          <a:solidFill>
            <a:srgbClr val="D88BA3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85775" y="3028950"/>
            <a:ext cx="428625" cy="4286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88B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5350" y="885825"/>
            <a:ext cx="7348538" cy="164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Empowering artisans to focus on their craft while maintaining efficient workflow</a:t>
            </a:r>
            <a:endParaRPr lang="en-US" sz="3420" dirty="0"/>
          </a:p>
        </p:txBody>
      </p:sp>
      <p:sp>
        <p:nvSpPr>
          <p:cNvPr id="3" name="Text 1"/>
          <p:cNvSpPr/>
          <p:nvPr/>
        </p:nvSpPr>
        <p:spPr>
          <a:xfrm>
            <a:off x="1719263" y="2867025"/>
            <a:ext cx="57007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Simplify product and inventory management with easy tracking and accurate stock control</a:t>
            </a:r>
            <a:endParaRPr lang="en-US" sz="1283" dirty="0"/>
          </a:p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 consignment tracking for clear monitoring and accountability</a:t>
            </a:r>
            <a:endParaRPr lang="en-US" sz="1283" dirty="0"/>
          </a:p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 sales analytics and reports to support smart business decisions</a:t>
            </a:r>
            <a:endParaRPr lang="en-US" sz="1283" dirty="0"/>
          </a:p>
        </p:txBody>
      </p:sp>
      <p:sp>
        <p:nvSpPr>
          <p:cNvPr id="4" name="Text 2"/>
          <p:cNvSpPr/>
          <p:nvPr/>
        </p:nvSpPr>
        <p:spPr>
          <a:xfrm>
            <a:off x="2709863" y="509587"/>
            <a:ext cx="372427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53"/>
              </a:lnSpc>
              <a:buNone/>
            </a:pPr>
            <a:r>
              <a:rPr lang="en-US" sz="1069" b="1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Solution</a:t>
            </a:r>
            <a:endParaRPr lang="en-US" sz="1069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14500" y="266700"/>
            <a:ext cx="5715000" cy="1052513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1714500" y="266700"/>
            <a:ext cx="571500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CONSIGNLY</a:t>
            </a:r>
            <a:endParaRPr lang="en-US" sz="3420" dirty="0"/>
          </a:p>
        </p:txBody>
      </p:sp>
      <p:sp>
        <p:nvSpPr>
          <p:cNvPr id="4" name="Text 2"/>
          <p:cNvSpPr/>
          <p:nvPr/>
        </p:nvSpPr>
        <p:spPr>
          <a:xfrm>
            <a:off x="1714500" y="928688"/>
            <a:ext cx="57150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D88BA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complete platform for consignment management</a:t>
            </a:r>
            <a:endParaRPr lang="en-US" sz="1283" dirty="0"/>
          </a:p>
        </p:txBody>
      </p:sp>
      <p:sp>
        <p:nvSpPr>
          <p:cNvPr id="5" name="Shape 3"/>
          <p:cNvSpPr/>
          <p:nvPr/>
        </p:nvSpPr>
        <p:spPr>
          <a:xfrm>
            <a:off x="3633788" y="1281113"/>
            <a:ext cx="1876425" cy="38100"/>
          </a:xfrm>
          <a:prstGeom prst="rect">
            <a:avLst/>
          </a:prstGeom>
          <a:solidFill>
            <a:srgbClr val="D88BA3"/>
          </a:solidFill>
          <a:ln/>
        </p:spPr>
      </p:sp>
      <p:sp>
        <p:nvSpPr>
          <p:cNvPr id="6" name="Shape 4"/>
          <p:cNvSpPr/>
          <p:nvPr/>
        </p:nvSpPr>
        <p:spPr>
          <a:xfrm>
            <a:off x="338138" y="1638300"/>
            <a:ext cx="2747963" cy="1319213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338138" y="1638300"/>
            <a:ext cx="2747963" cy="1319213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338138" y="1638300"/>
            <a:ext cx="2747963" cy="1319213"/>
          </a:xfrm>
          <a:prstGeom prst="roundRect">
            <a:avLst/>
          </a:prstGeom>
          <a:solidFill>
            <a:srgbClr val="FDE2E9"/>
          </a:solidFill>
          <a:ln/>
        </p:spPr>
      </p:sp>
      <p:sp>
        <p:nvSpPr>
          <p:cNvPr id="9" name="Text 7"/>
          <p:cNvSpPr/>
          <p:nvPr/>
        </p:nvSpPr>
        <p:spPr>
          <a:xfrm>
            <a:off x="1545431" y="1743075"/>
            <a:ext cx="333375" cy="347663"/>
          </a:xfrm>
          <a:prstGeom prst="ellipse">
            <a:avLst/>
          </a:prstGeom>
          <a:solidFill>
            <a:srgbClr val="D88BA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933450" y="2119313"/>
            <a:ext cx="1557338" cy="323850"/>
          </a:xfrm>
          <a:prstGeom prst="rect">
            <a:avLst/>
          </a:prstGeom>
          <a:noFill/>
          <a:ln/>
        </p:spPr>
      </p:sp>
      <p:sp>
        <p:nvSpPr>
          <p:cNvPr id="11" name="Text 9"/>
          <p:cNvSpPr/>
          <p:nvPr/>
        </p:nvSpPr>
        <p:spPr>
          <a:xfrm>
            <a:off x="981075" y="2166938"/>
            <a:ext cx="1462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spc="-26" kern="0" dirty="0">
                <a:solidFill>
                  <a:srgbClr val="1E1E1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 &amp; Stocks</a:t>
            </a:r>
            <a:endParaRPr lang="en-US" sz="1283" dirty="0"/>
          </a:p>
        </p:txBody>
      </p:sp>
      <p:sp>
        <p:nvSpPr>
          <p:cNvPr id="12" name="Text 10"/>
          <p:cNvSpPr/>
          <p:nvPr/>
        </p:nvSpPr>
        <p:spPr>
          <a:xfrm>
            <a:off x="547688" y="2471738"/>
            <a:ext cx="232886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5F5F5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products, manage stock levels, and monitor inventory across all locations</a:t>
            </a:r>
            <a:endParaRPr lang="en-US" sz="855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95438" y="1800225"/>
            <a:ext cx="233362" cy="23336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3195638" y="1638300"/>
            <a:ext cx="2747963" cy="1319213"/>
          </a:xfrm>
          <a:prstGeom prst="rect">
            <a:avLst/>
          </a:prstGeom>
          <a:noFill/>
          <a:ln/>
        </p:spPr>
      </p:sp>
      <p:sp>
        <p:nvSpPr>
          <p:cNvPr id="15" name="Shape 12"/>
          <p:cNvSpPr/>
          <p:nvPr/>
        </p:nvSpPr>
        <p:spPr>
          <a:xfrm>
            <a:off x="3171825" y="1619250"/>
            <a:ext cx="2747963" cy="1319213"/>
          </a:xfrm>
          <a:prstGeom prst="roundRect">
            <a:avLst/>
          </a:prstGeom>
          <a:solidFill>
            <a:srgbClr val="FDE2E9"/>
          </a:solidFill>
          <a:ln/>
        </p:spPr>
      </p:sp>
      <p:sp>
        <p:nvSpPr>
          <p:cNvPr id="16" name="Text 13"/>
          <p:cNvSpPr/>
          <p:nvPr/>
        </p:nvSpPr>
        <p:spPr>
          <a:xfrm>
            <a:off x="4402931" y="1743075"/>
            <a:ext cx="333375" cy="347663"/>
          </a:xfrm>
          <a:prstGeom prst="ellipse">
            <a:avLst/>
          </a:prstGeom>
          <a:solidFill>
            <a:srgbClr val="D88BA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829050" y="2166938"/>
            <a:ext cx="1481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spc="-26" kern="0" dirty="0">
                <a:solidFill>
                  <a:srgbClr val="1E1E1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 Management</a:t>
            </a:r>
            <a:endParaRPr lang="en-US" sz="1283" dirty="0"/>
          </a:p>
        </p:txBody>
      </p:sp>
      <p:sp>
        <p:nvSpPr>
          <p:cNvPr id="18" name="Text 15"/>
          <p:cNvSpPr/>
          <p:nvPr/>
        </p:nvSpPr>
        <p:spPr>
          <a:xfrm>
            <a:off x="3405188" y="2471738"/>
            <a:ext cx="232886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5F5F5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multiple stores, auto-calculate commissions, and track settlements</a:t>
            </a:r>
            <a:endParaRPr lang="en-US" sz="855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62463" y="1809750"/>
            <a:ext cx="219075" cy="214313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6053138" y="1619250"/>
            <a:ext cx="2747963" cy="1319213"/>
          </a:xfrm>
          <a:prstGeom prst="rect">
            <a:avLst/>
          </a:prstGeom>
          <a:noFill/>
          <a:ln/>
        </p:spPr>
      </p:sp>
      <p:sp>
        <p:nvSpPr>
          <p:cNvPr id="21" name="Shape 17"/>
          <p:cNvSpPr/>
          <p:nvPr/>
        </p:nvSpPr>
        <p:spPr>
          <a:xfrm>
            <a:off x="6005513" y="1571625"/>
            <a:ext cx="2843213" cy="1414463"/>
          </a:xfrm>
          <a:prstGeom prst="rect">
            <a:avLst/>
          </a:prstGeom>
          <a:noFill/>
          <a:ln/>
        </p:spPr>
      </p:sp>
      <p:sp>
        <p:nvSpPr>
          <p:cNvPr id="22" name="Shape 18"/>
          <p:cNvSpPr/>
          <p:nvPr/>
        </p:nvSpPr>
        <p:spPr>
          <a:xfrm>
            <a:off x="6053138" y="1619250"/>
            <a:ext cx="2747963" cy="1319213"/>
          </a:xfrm>
          <a:prstGeom prst="roundRect">
            <a:avLst/>
          </a:prstGeom>
          <a:solidFill>
            <a:srgbClr val="FDE2E9"/>
          </a:solidFill>
          <a:ln/>
        </p:spPr>
      </p:sp>
      <p:sp>
        <p:nvSpPr>
          <p:cNvPr id="23" name="Text 19"/>
          <p:cNvSpPr/>
          <p:nvPr/>
        </p:nvSpPr>
        <p:spPr>
          <a:xfrm>
            <a:off x="7260431" y="1724025"/>
            <a:ext cx="333375" cy="347663"/>
          </a:xfrm>
          <a:prstGeom prst="ellipse">
            <a:avLst/>
          </a:prstGeom>
          <a:solidFill>
            <a:srgbClr val="D88BA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6667500" y="2147888"/>
            <a:ext cx="15192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spc="-26" kern="0" dirty="0">
                <a:solidFill>
                  <a:srgbClr val="1E1E1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Reports &amp; Analytics</a:t>
            </a:r>
            <a:endParaRPr lang="en-US" sz="1283" dirty="0"/>
          </a:p>
        </p:txBody>
      </p:sp>
      <p:sp>
        <p:nvSpPr>
          <p:cNvPr id="25" name="Text 21"/>
          <p:cNvSpPr/>
          <p:nvPr/>
        </p:nvSpPr>
        <p:spPr>
          <a:xfrm>
            <a:off x="6262688" y="2452688"/>
            <a:ext cx="232886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5F5F5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Gain insights on sales trends, top products, and shop performance</a:t>
            </a:r>
            <a:endParaRPr lang="en-US" sz="855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319963" y="1790700"/>
            <a:ext cx="214313" cy="214313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714500" y="3257550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D88BA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Consignly Transforms Daily Operations</a:t>
            </a:r>
            <a:endParaRPr lang="en-US" sz="1283" dirty="0"/>
          </a:p>
        </p:txBody>
      </p:sp>
      <p:sp>
        <p:nvSpPr>
          <p:cNvPr id="28" name="Text 23"/>
          <p:cNvSpPr/>
          <p:nvPr/>
        </p:nvSpPr>
        <p:spPr>
          <a:xfrm>
            <a:off x="2381250" y="3619500"/>
            <a:ext cx="4381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spc="-26" kern="0" dirty="0">
                <a:solidFill>
                  <a:srgbClr val="5F5F5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visibility of products across all stores
</a:t>
            </a:r>
            <a:endParaRPr lang="en-US" sz="1283" dirty="0"/>
          </a:p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spc="-26" kern="0" dirty="0">
                <a:solidFill>
                  <a:srgbClr val="5F5F5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commission calculations eliminate errors
</a:t>
            </a:r>
            <a:endParaRPr lang="en-US" sz="1283" dirty="0"/>
          </a:p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spc="-26" kern="0" dirty="0">
                <a:solidFill>
                  <a:srgbClr val="5F5F5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 portal for store owners to update sales directly
</a:t>
            </a:r>
            <a:endParaRPr lang="en-US" sz="1283" dirty="0"/>
          </a:p>
          <a:p>
            <a:pPr algn="l" marL="342900" indent="-342900">
              <a:lnSpc>
                <a:spcPts val="1693"/>
              </a:lnSpc>
              <a:buSzPct val="100000"/>
              <a:buChar char="•"/>
            </a:pPr>
            <a:r>
              <a:rPr lang="en-US" sz="1283" spc="-26" kern="0" dirty="0">
                <a:solidFill>
                  <a:srgbClr val="5F5F5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reports guide production decisions
</a:t>
            </a:r>
            <a:endParaRPr lang="en-US" sz="128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9144000" cy="1595438"/>
          </a:xfrm>
          <a:prstGeom prst="rect">
            <a:avLst/>
          </a:prstGeom>
          <a:solidFill>
            <a:srgbClr val="FDE2E9"/>
          </a:solidFill>
          <a:ln/>
        </p:spPr>
      </p:sp>
      <p:sp>
        <p:nvSpPr>
          <p:cNvPr id="3" name="Shape 1"/>
          <p:cNvSpPr/>
          <p:nvPr/>
        </p:nvSpPr>
        <p:spPr>
          <a:xfrm>
            <a:off x="1581150" y="2924175"/>
            <a:ext cx="5976938" cy="619125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1700213" y="3086100"/>
            <a:ext cx="57388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5F5F5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artisans craft freely and track easily</a:t>
            </a:r>
            <a:endParaRPr lang="en-US" sz="2138" dirty="0"/>
          </a:p>
        </p:txBody>
      </p:sp>
      <p:sp>
        <p:nvSpPr>
          <p:cNvPr id="5" name="Text 3"/>
          <p:cNvSpPr/>
          <p:nvPr/>
        </p:nvSpPr>
        <p:spPr>
          <a:xfrm>
            <a:off x="838200" y="3543300"/>
            <a:ext cx="7467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5F5F5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world where home-based artisans have complete control over their consignment business, with transparent partnerships, automated workflows, and data-driven confidence to grow.</a:t>
            </a:r>
            <a:endParaRPr lang="en-US" sz="1283" dirty="0"/>
          </a:p>
        </p:txBody>
      </p:sp>
      <p:sp>
        <p:nvSpPr>
          <p:cNvPr id="6" name="Shape 4"/>
          <p:cNvSpPr/>
          <p:nvPr/>
        </p:nvSpPr>
        <p:spPr>
          <a:xfrm>
            <a:off x="195263" y="800100"/>
            <a:ext cx="8753475" cy="1600200"/>
          </a:xfrm>
          <a:prstGeom prst="rect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195263" y="800100"/>
            <a:ext cx="8753475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D88BA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JOIN US IN EMPOWERING ARTISAN ENTREPRENEURS</a:t>
            </a:r>
            <a:endParaRPr lang="en-US" sz="3420" dirty="0"/>
          </a:p>
        </p:txBody>
      </p:sp>
      <p:sp>
        <p:nvSpPr>
          <p:cNvPr id="8" name="Text 6"/>
          <p:cNvSpPr/>
          <p:nvPr/>
        </p:nvSpPr>
        <p:spPr>
          <a:xfrm>
            <a:off x="195263" y="2009775"/>
            <a:ext cx="87534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D88BA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Let's build the future together</a:t>
            </a:r>
            <a:endParaRPr lang="en-US" sz="1283" dirty="0"/>
          </a:p>
        </p:txBody>
      </p:sp>
      <p:sp>
        <p:nvSpPr>
          <p:cNvPr id="9" name="Shape 7"/>
          <p:cNvSpPr/>
          <p:nvPr/>
        </p:nvSpPr>
        <p:spPr>
          <a:xfrm>
            <a:off x="3633788" y="2362200"/>
            <a:ext cx="1876425" cy="38100"/>
          </a:xfrm>
          <a:prstGeom prst="rect">
            <a:avLst/>
          </a:prstGeom>
          <a:solidFill>
            <a:srgbClr val="D88BA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2026-05-18T11:10:35Z</dcterms:created>
  <dcterms:modified xsi:type="dcterms:W3CDTF">2026-05-18T11:10:35Z</dcterms:modified>
</cp:coreProperties>
</file>